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18288000" cy="10287000"/>
  <p:notesSz cx="6858000" cy="9144000"/>
  <p:embeddedFontLst>
    <p:embeddedFont>
      <p:font typeface="Poppins Bold" charset="1" panose="00000800000000000000"/>
      <p:regular r:id="rId39"/>
    </p:embeddedFont>
    <p:embeddedFont>
      <p:font typeface="JASO Sans" charset="1" panose="020E0002060000000900"/>
      <p:regular r:id="rId40"/>
    </p:embeddedFont>
    <p:embeddedFont>
      <p:font typeface="Poppins Semi-Bold" charset="1" panose="00000700000000000000"/>
      <p:regular r:id="rId41"/>
    </p:embeddedFont>
    <p:embeddedFont>
      <p:font typeface="JASO Sans Bold" charset="1" panose="020E0002060000000900"/>
      <p:regular r:id="rId42"/>
    </p:embeddedFont>
    <p:embeddedFont>
      <p:font typeface="Poppins" charset="1" panose="00000500000000000000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43" Target="fonts/font43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557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717814" y="-109963"/>
            <a:ext cx="0" cy="11202196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726339"/>
            <a:ext cx="18744350" cy="0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290468" y="3830810"/>
            <a:ext cx="9707063" cy="226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501"/>
              </a:lnSpc>
              <a:spcBef>
                <a:spcPct val="0"/>
              </a:spcBef>
            </a:pPr>
            <a:r>
              <a:rPr lang="en-US" b="true" sz="12500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1조 - 금구리당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342192" y="8907519"/>
            <a:ext cx="3454262" cy="35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163" spc="-43">
                <a:solidFill>
                  <a:srgbClr val="F5F5F3"/>
                </a:solidFill>
                <a:latin typeface="JASO Sans"/>
                <a:ea typeface="JASO Sans"/>
                <a:cs typeface="JASO Sans"/>
                <a:sym typeface="JASO Sans"/>
              </a:rPr>
              <a:t>오은원,  고현주, 홍지훈, 김재무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16815109" cy="8785894"/>
          </a:xfrm>
          <a:custGeom>
            <a:avLst/>
            <a:gdLst/>
            <a:ahLst/>
            <a:cxnLst/>
            <a:rect r="r" b="b" t="t" l="l"/>
            <a:pathLst>
              <a:path h="8785894" w="16815109">
                <a:moveTo>
                  <a:pt x="0" y="0"/>
                </a:moveTo>
                <a:lnTo>
                  <a:pt x="16815109" y="0"/>
                </a:lnTo>
                <a:lnTo>
                  <a:pt x="16815109" y="8785894"/>
                </a:lnTo>
                <a:lnTo>
                  <a:pt x="0" y="878589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557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717814" y="-109963"/>
            <a:ext cx="0" cy="11202196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726339"/>
            <a:ext cx="18744350" cy="0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856890" y="1064487"/>
            <a:ext cx="10874368" cy="2632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0291"/>
              </a:lnSpc>
              <a:spcBef>
                <a:spcPct val="0"/>
              </a:spcBef>
            </a:pPr>
            <a:r>
              <a:rPr lang="en-US" b="true" sz="7351" strike="noStrike" u="non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정량적 접근</a:t>
            </a:r>
            <a:r>
              <a:rPr lang="en-US" b="true" sz="7351" strike="noStrike" u="non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법을</a:t>
            </a:r>
            <a:r>
              <a:rPr lang="en-US" b="true" sz="7351" strike="noStrike" u="non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b="true" sz="7351" strike="noStrike" u="non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사용한</a:t>
            </a:r>
            <a:r>
              <a:rPr lang="en-US" b="true" sz="7351" strike="noStrike" u="non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 DAA 글로벌 반도체 투자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46957" y="4085580"/>
            <a:ext cx="8487613" cy="4092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1"/>
              </a:lnSpc>
            </a:pPr>
            <a:r>
              <a:rPr lang="en-US" sz="2178" spc="-32">
                <a:solidFill>
                  <a:srgbClr val="F5F5F3"/>
                </a:solidFill>
                <a:latin typeface="JASO Sans"/>
                <a:ea typeface="JASO Sans"/>
                <a:cs typeface="JASO Sans"/>
                <a:sym typeface="JASO Sans"/>
              </a:rPr>
              <a:t>데이터 기반의 정밀한 사이클 분석, 30대 자산 성장을</a:t>
            </a:r>
            <a:r>
              <a:rPr lang="en-US" sz="2178" spc="-32">
                <a:solidFill>
                  <a:srgbClr val="F5F5F3"/>
                </a:solidFill>
                <a:latin typeface="JASO Sans"/>
                <a:ea typeface="JASO Sans"/>
                <a:cs typeface="JASO Sans"/>
                <a:sym typeface="JASO Sans"/>
              </a:rPr>
              <a:t> 위한 반도체 특화 DAA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2192" y="8907519"/>
            <a:ext cx="3917108" cy="35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163" spc="-43">
                <a:solidFill>
                  <a:srgbClr val="F5F5F3"/>
                </a:solidFill>
                <a:latin typeface="JASO Sans"/>
                <a:ea typeface="JASO Sans"/>
                <a:cs typeface="JASO Sans"/>
                <a:sym typeface="JASO Sans"/>
              </a:rPr>
              <a:t>1조  오은원,  고현주, 홍지훈, 김재무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024705" y="2194099"/>
            <a:ext cx="5240250" cy="2938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08"/>
              </a:lnSpc>
            </a:pPr>
            <a:r>
              <a:rPr lang="en-US" b="true" sz="76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TABLE</a:t>
            </a:r>
          </a:p>
          <a:p>
            <a:pPr algn="l">
              <a:lnSpc>
                <a:spcPts val="7408"/>
              </a:lnSpc>
            </a:pPr>
            <a:r>
              <a:rPr lang="en-US" b="true" sz="76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OF</a:t>
            </a:r>
          </a:p>
          <a:p>
            <a:pPr algn="l">
              <a:lnSpc>
                <a:spcPts val="7408"/>
              </a:lnSpc>
            </a:pPr>
            <a:r>
              <a:rPr lang="en-US" b="true" sz="76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CONTENTS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043755" y="5090199"/>
            <a:ext cx="2775180" cy="409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1"/>
              </a:lnSpc>
            </a:pPr>
            <a:r>
              <a:rPr lang="en-US" sz="2260" spc="-33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목차보기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025134" y="2325427"/>
            <a:ext cx="1352895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투자</a:t>
            </a: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유니버스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736491" y="2174363"/>
            <a:ext cx="4088619" cy="5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Invest</a:t>
            </a: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ment Universe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803668" y="3468689"/>
            <a:ext cx="2002989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운용 전략 및</a:t>
            </a: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방법론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36491" y="3344437"/>
            <a:ext cx="5876677" cy="5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</a:t>
            </a: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ore Strategy &amp; Methodology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605455" y="4649055"/>
            <a:ext cx="1788059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리스크</a:t>
            </a: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관리 체계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736491" y="4514510"/>
            <a:ext cx="3668939" cy="5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Risk Manag</a:t>
            </a: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77701" y="5798565"/>
            <a:ext cx="1195647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성과</a:t>
            </a: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분석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736491" y="5684584"/>
            <a:ext cx="4450710" cy="5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Perfo</a:t>
            </a: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rmance Analysis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311203" y="6986980"/>
            <a:ext cx="995319" cy="33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7"/>
              </a:lnSpc>
            </a:pP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투자</a:t>
            </a:r>
            <a:r>
              <a:rPr lang="en-US" sz="1874" spc="-31">
                <a:solidFill>
                  <a:srgbClr val="3F3F3F">
                    <a:alpha val="86667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 결론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36491" y="6854657"/>
            <a:ext cx="2374687" cy="543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89"/>
              </a:lnSpc>
            </a:pP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Conclusi</a:t>
            </a:r>
            <a:r>
              <a:rPr lang="en-US" sz="3063" b="true">
                <a:solidFill>
                  <a:srgbClr val="3F3F3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on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19100" y="2435758"/>
            <a:ext cx="218354" cy="166495"/>
          </a:xfrm>
          <a:custGeom>
            <a:avLst/>
            <a:gdLst/>
            <a:ahLst/>
            <a:cxnLst/>
            <a:rect r="r" b="b" t="t" l="l"/>
            <a:pathLst>
              <a:path h="166495" w="218354">
                <a:moveTo>
                  <a:pt x="0" y="0"/>
                </a:moveTo>
                <a:lnTo>
                  <a:pt x="218354" y="0"/>
                </a:lnTo>
                <a:lnTo>
                  <a:pt x="218354" y="166495"/>
                </a:lnTo>
                <a:lnTo>
                  <a:pt x="0" y="16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319100" y="4756225"/>
            <a:ext cx="218354" cy="166495"/>
          </a:xfrm>
          <a:custGeom>
            <a:avLst/>
            <a:gdLst/>
            <a:ahLst/>
            <a:cxnLst/>
            <a:rect r="r" b="b" t="t" l="l"/>
            <a:pathLst>
              <a:path h="166495" w="218354">
                <a:moveTo>
                  <a:pt x="0" y="0"/>
                </a:moveTo>
                <a:lnTo>
                  <a:pt x="218354" y="0"/>
                </a:lnTo>
                <a:lnTo>
                  <a:pt x="218354" y="166494"/>
                </a:lnTo>
                <a:lnTo>
                  <a:pt x="0" y="16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319100" y="7094151"/>
            <a:ext cx="218354" cy="166495"/>
          </a:xfrm>
          <a:custGeom>
            <a:avLst/>
            <a:gdLst/>
            <a:ahLst/>
            <a:cxnLst/>
            <a:rect r="r" b="b" t="t" l="l"/>
            <a:pathLst>
              <a:path h="166495" w="218354">
                <a:moveTo>
                  <a:pt x="0" y="0"/>
                </a:moveTo>
                <a:lnTo>
                  <a:pt x="218354" y="0"/>
                </a:lnTo>
                <a:lnTo>
                  <a:pt x="218354" y="166494"/>
                </a:lnTo>
                <a:lnTo>
                  <a:pt x="0" y="16649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28499" y="3585268"/>
            <a:ext cx="218354" cy="166495"/>
          </a:xfrm>
          <a:custGeom>
            <a:avLst/>
            <a:gdLst/>
            <a:ahLst/>
            <a:cxnLst/>
            <a:rect r="r" b="b" t="t" l="l"/>
            <a:pathLst>
              <a:path h="166495" w="218354">
                <a:moveTo>
                  <a:pt x="0" y="0"/>
                </a:moveTo>
                <a:lnTo>
                  <a:pt x="218353" y="0"/>
                </a:lnTo>
                <a:lnTo>
                  <a:pt x="218353" y="166495"/>
                </a:lnTo>
                <a:lnTo>
                  <a:pt x="0" y="16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328499" y="5905735"/>
            <a:ext cx="218354" cy="166495"/>
          </a:xfrm>
          <a:custGeom>
            <a:avLst/>
            <a:gdLst/>
            <a:ahLst/>
            <a:cxnLst/>
            <a:rect r="r" b="b" t="t" l="l"/>
            <a:pathLst>
              <a:path h="166495" w="218354">
                <a:moveTo>
                  <a:pt x="0" y="0"/>
                </a:moveTo>
                <a:lnTo>
                  <a:pt x="218353" y="0"/>
                </a:lnTo>
                <a:lnTo>
                  <a:pt x="218353" y="166495"/>
                </a:lnTo>
                <a:lnTo>
                  <a:pt x="0" y="1664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INVES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TMENT UNIVERSE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투자 유니버스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4943" y="4555402"/>
            <a:ext cx="15398114" cy="4990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VWO (Vanguard FTSE Emerging Markets)</a:t>
            </a:r>
          </a:p>
          <a:p>
            <a:pPr algn="ctr">
              <a:lnSpc>
                <a:spcPts val="4163"/>
              </a:lnSpc>
            </a:pPr>
            <a:r>
              <a:rPr lang="en-US" sz="2703" spc="-45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 </a:t>
            </a:r>
            <a:r>
              <a:rPr lang="en-US" b="true" sz="2703" spc="-45">
                <a:solidFill>
                  <a:srgbClr val="5F5F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[글로벌 위험 선호도 측정] </a:t>
            </a:r>
          </a:p>
          <a:p>
            <a:pPr algn="ctr">
              <a:lnSpc>
                <a:spcPts val="4163"/>
              </a:lnSpc>
            </a:pPr>
            <a:r>
              <a:rPr lang="en-US" sz="2703" spc="-45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신흥국 시장은 유동성에 가장 민감합니다. </a:t>
            </a:r>
          </a:p>
          <a:p>
            <a:pPr algn="ctr">
              <a:lnSpc>
                <a:spcPts val="4163"/>
              </a:lnSpc>
            </a:pPr>
            <a:r>
              <a:rPr lang="en-US" sz="2703" spc="-45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VWO가 흔들린다는 것은 글로벌 자금이 안전자산으로 회귀하고 있다는 강력한 신호입니다.</a:t>
            </a:r>
          </a:p>
          <a:p>
            <a:pPr algn="ctr">
              <a:lnSpc>
                <a:spcPts val="4163"/>
              </a:lnSpc>
            </a:pPr>
          </a:p>
          <a:p>
            <a:pPr algn="ctr">
              <a:lnSpc>
                <a:spcPts val="5395"/>
              </a:lnSpc>
            </a:pP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BND (Vanguard Total Bond Market)</a:t>
            </a:r>
          </a:p>
          <a:p>
            <a:pPr algn="ctr">
              <a:lnSpc>
                <a:spcPts val="4163"/>
              </a:lnSpc>
            </a:pPr>
            <a:r>
              <a:rPr lang="en-US" b="true" sz="2703" spc="-45">
                <a:solidFill>
                  <a:srgbClr val="5F5F5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[신용 및 유동성 리스크 감지] </a:t>
            </a:r>
          </a:p>
          <a:p>
            <a:pPr algn="ctr">
              <a:lnSpc>
                <a:spcPts val="4163"/>
              </a:lnSpc>
            </a:pPr>
            <a:r>
              <a:rPr lang="en-US" sz="2703" spc="-45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미국 전체 채권 시장의 흐름을 통해 시장 내부의 신용 경색이나 금리 변동 리스크를 파악합니다. </a:t>
            </a:r>
          </a:p>
          <a:p>
            <a:pPr algn="ctr">
              <a:lnSpc>
                <a:spcPts val="4163"/>
              </a:lnSpc>
              <a:spcBef>
                <a:spcPct val="0"/>
              </a:spcBef>
            </a:pPr>
            <a:r>
              <a:rPr lang="en-US" sz="2703" spc="-45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금융 시스템의 건전성을 판단하는 Threshold(임계점)로 활용합니다.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44943" y="3046040"/>
            <a:ext cx="2818535" cy="87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2"/>
              </a:lnSpc>
              <a:spcBef>
                <a:spcPct val="0"/>
              </a:spcBef>
            </a:pPr>
            <a:r>
              <a:rPr lang="en-US" b="true" sz="4774" spc="-81">
                <a:solidFill>
                  <a:srgbClr val="5578E1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카나리아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INVES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TMENT UNIVERSE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투자 유니버스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70186" y="5063630"/>
            <a:ext cx="8573814" cy="41942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18"/>
              </a:lnSpc>
            </a:pPr>
            <a:r>
              <a:rPr lang="en-US" b="true" sz="2349" spc="-3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SOX (PHLX Semiconductor Sector Index)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글로벌 반도체 설계(Fabless)부터 제조(Foundry), 장비까지 전 밸류체인을 포괄하는 지수입니다. 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본 펀드의 핵심 테마인 '반도체 주기성'을 가장 직접적으로 추종하며, 전략의 알파(Alpha)를 창출하는 주동력입니다.</a:t>
            </a:r>
          </a:p>
          <a:p>
            <a:pPr algn="ctr">
              <a:lnSpc>
                <a:spcPts val="2079"/>
              </a:lnSpc>
            </a:pPr>
          </a:p>
          <a:p>
            <a:pPr algn="ctr">
              <a:lnSpc>
                <a:spcPts val="3664"/>
              </a:lnSpc>
            </a:pPr>
            <a:r>
              <a:rPr lang="en-US" b="true" sz="2379" spc="-40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SPY(SPDR S&amp;P 500 ETF Trust)</a:t>
            </a:r>
          </a:p>
          <a:p>
            <a:pPr algn="ctr">
              <a:lnSpc>
                <a:spcPts val="2067"/>
              </a:lnSpc>
            </a:pPr>
            <a:r>
              <a:rPr lang="en-US" sz="1342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미국 대형주 500개 기업에 투자하여 포트폴리오의 기초 체력을 담당합니다.</a:t>
            </a:r>
          </a:p>
          <a:p>
            <a:pPr algn="ctr">
              <a:lnSpc>
                <a:spcPts val="2067"/>
              </a:lnSpc>
            </a:pPr>
            <a:r>
              <a:rPr lang="en-US" sz="1342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 반도체 섹터에 집중 투자할 때 발생할 수 있는 개별 섹터 리스크를 희석하고, </a:t>
            </a:r>
          </a:p>
          <a:p>
            <a:pPr algn="ctr">
              <a:lnSpc>
                <a:spcPts val="2067"/>
              </a:lnSpc>
            </a:pPr>
            <a:r>
              <a:rPr lang="en-US" sz="1342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미국 경제 전체의 우상향 모멘텀을 놓치지 않기 위해 포함했습니다</a:t>
            </a:r>
          </a:p>
          <a:p>
            <a:pPr algn="ctr">
              <a:lnSpc>
                <a:spcPts val="2067"/>
              </a:lnSpc>
            </a:pPr>
          </a:p>
          <a:p>
            <a:pPr algn="ctr">
              <a:lnSpc>
                <a:spcPts val="3664"/>
              </a:lnSpc>
            </a:pPr>
            <a:r>
              <a:rPr lang="en-US" b="true" sz="2379" spc="-40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EWY(iShares MSCI South Korea ETF)</a:t>
            </a:r>
          </a:p>
          <a:p>
            <a:pPr algn="ctr">
              <a:lnSpc>
                <a:spcPts val="2073"/>
              </a:lnSpc>
            </a:pPr>
            <a:r>
              <a:rPr lang="en-US" sz="1346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한국 시장은 </a:t>
            </a:r>
            <a:r>
              <a:rPr lang="en-US" sz="1346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삼성전자와 SK하이닉스의 비중이 압도적으로 높습니다. </a:t>
            </a:r>
          </a:p>
          <a:p>
            <a:pPr algn="ctr">
              <a:lnSpc>
                <a:spcPts val="2073"/>
              </a:lnSpc>
            </a:pPr>
            <a:r>
              <a:rPr lang="en-US" sz="1346" spc="-22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EWY는 메모리 업황을 공략하는 전략적 선택입니다.</a:t>
            </a:r>
          </a:p>
          <a:p>
            <a:pPr algn="ctr">
              <a:lnSpc>
                <a:spcPts val="4300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44943" y="3046040"/>
            <a:ext cx="2818535" cy="87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2"/>
              </a:lnSpc>
              <a:spcBef>
                <a:spcPct val="0"/>
              </a:spcBef>
            </a:pPr>
            <a:r>
              <a:rPr lang="en-US" b="true" sz="4774" spc="-81">
                <a:solidFill>
                  <a:srgbClr val="5578E1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공격 자산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5067300"/>
            <a:ext cx="8498329" cy="3833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9"/>
              </a:lnSpc>
            </a:pPr>
            <a:r>
              <a:rPr lang="en-US" b="true" sz="2383" spc="-40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SMH (VanEck Semiconductor ETF)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글로벌 반도체 밸류체인의 대장주(TSMC, NVDA 등)를 포착하는 대표 지수입니다. 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전략의 핵심인 반도체 업황 수익률을 추종하는 기본 자산입니다.</a:t>
            </a:r>
          </a:p>
          <a:p>
            <a:pPr algn="ctr">
              <a:lnSpc>
                <a:spcPts val="2602"/>
              </a:lnSpc>
            </a:pPr>
          </a:p>
          <a:p>
            <a:pPr algn="ctr">
              <a:lnSpc>
                <a:spcPts val="3669"/>
              </a:lnSpc>
            </a:pPr>
            <a:r>
              <a:rPr lang="en-US" b="true" sz="2383" spc="-40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CQQQ (Invesco China Technology ETF)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글로벌 IT 공급망의 큰 축인 중국 테크 기업에 투자합니다. 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반도체와 상관관계가 높으면서도 차별화된 알파 수익을 노립니다.</a:t>
            </a:r>
          </a:p>
          <a:p>
            <a:pPr algn="ctr">
              <a:lnSpc>
                <a:spcPts val="2079"/>
              </a:lnSpc>
            </a:pPr>
          </a:p>
          <a:p>
            <a:pPr algn="ctr">
              <a:lnSpc>
                <a:spcPts val="3618"/>
              </a:lnSpc>
            </a:pPr>
            <a:r>
              <a:rPr lang="en-US" sz="2349" spc="-39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I</a:t>
            </a:r>
            <a:r>
              <a:rPr lang="en-US" b="true" sz="2349" spc="-3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EMG(iShares Core MSCI Emerging Markets ETF)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신흥국 시장의 우량주들에 투자합니다. 특히 대만(TSMC), 중국(Tencent) 등 글로벌 반도체 및 테크 공급망의 </a:t>
            </a:r>
          </a:p>
          <a:p>
            <a:pPr algn="ctr">
              <a:lnSpc>
                <a:spcPts val="2079"/>
              </a:lnSpc>
            </a:pPr>
            <a:r>
              <a:rPr lang="en-US" sz="1350" spc="-2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핵심 기업들이 대거 포함되어 있어, 미국 시장(SPY)과는 다른 국면의 성장 시그널을 포착합니다.</a:t>
            </a:r>
          </a:p>
          <a:p>
            <a:pPr algn="ctr">
              <a:lnSpc>
                <a:spcPts val="28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INVES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TMENT UNIVERSE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투자 유니버스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44943" y="3859045"/>
            <a:ext cx="15398114" cy="6895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95"/>
              </a:lnSpc>
            </a:pP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TLT</a:t>
            </a: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(iShares 20+ Year Treasury Bond)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시장의 위험 회피 심리가 강해질 때 가격이 오르는 대표적 안전자산입니다. 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금리 하락기에 강력한 자본 차익을 제공하여 MDD를 방어합니다.</a:t>
            </a:r>
          </a:p>
          <a:p>
            <a:pPr algn="ctr">
              <a:lnSpc>
                <a:spcPts val="3855"/>
              </a:lnSpc>
            </a:pPr>
          </a:p>
          <a:p>
            <a:pPr algn="ctr">
              <a:lnSpc>
                <a:spcPts val="5395"/>
              </a:lnSpc>
            </a:pP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UUP</a:t>
            </a: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(Invesco DB US Dollar Index)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위기 시 안전자산인 '달러' 가치에 투자합니다. 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주식과 채권이 동시에 흔들리는 구간에서 포트폴리오의 최후 보루 역할을 수행합니다.</a:t>
            </a:r>
          </a:p>
          <a:p>
            <a:pPr algn="ctr">
              <a:lnSpc>
                <a:spcPts val="3855"/>
              </a:lnSpc>
            </a:pPr>
          </a:p>
          <a:p>
            <a:pPr algn="ctr">
              <a:lnSpc>
                <a:spcPts val="5395"/>
              </a:lnSpc>
            </a:pP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GLD</a:t>
            </a:r>
            <a:r>
              <a:rPr lang="en-US" b="true" sz="3503" spc="-59">
                <a:solidFill>
                  <a:srgbClr val="3F3F3F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 (SPDR Gold Shares)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실질금리 하락 및 인플레이션 상황에서 가치가 빛나는 실물 자산입니다. </a:t>
            </a:r>
          </a:p>
          <a:p>
            <a:pPr algn="ctr">
              <a:lnSpc>
                <a:spcPts val="3855"/>
              </a:lnSpc>
            </a:pPr>
            <a:r>
              <a:rPr lang="en-US" sz="2503" spc="-42">
                <a:solidFill>
                  <a:srgbClr val="5F5F5F"/>
                </a:solidFill>
                <a:latin typeface="JASO Sans"/>
                <a:ea typeface="JASO Sans"/>
                <a:cs typeface="JASO Sans"/>
                <a:sym typeface="JASO Sans"/>
              </a:rPr>
              <a:t>화폐 가치 하락에 대비하고 주식 시장과의 낮은 상관관계를 통해 변동성을 낮춥니다.</a:t>
            </a:r>
          </a:p>
          <a:p>
            <a:pPr algn="ctr">
              <a:lnSpc>
                <a:spcPts val="3855"/>
              </a:lnSpc>
            </a:pPr>
          </a:p>
          <a:p>
            <a:pPr algn="ctr">
              <a:lnSpc>
                <a:spcPts val="4163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444943" y="3046040"/>
            <a:ext cx="2818535" cy="879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52"/>
              </a:lnSpc>
              <a:spcBef>
                <a:spcPct val="0"/>
              </a:spcBef>
            </a:pPr>
            <a:r>
              <a:rPr lang="en-US" b="true" sz="4774" spc="-81">
                <a:solidFill>
                  <a:srgbClr val="5578E1"/>
                </a:solidFill>
                <a:latin typeface="JASO Sans Bold"/>
                <a:ea typeface="JASO Sans Bold"/>
                <a:cs typeface="JASO Sans Bold"/>
                <a:sym typeface="JASO Sans Bold"/>
              </a:rPr>
              <a:t>방어 자산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4940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INDICATOR: PROVEN CANARY SYSTEM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글로벌 자본 흐름과 신용 위험의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실시간 조기 경보 체계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VWO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(신흥국 주식)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글로벌 자금 흐름의 변화, 시장 전체의 위험 선호도 추이를 감지합니다.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BND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(미국 종합채권)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금리 변동성, 신용 스프레드 확대, 금융 시스템 유동성 스트레스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위험이 본격화되기 전, 포트폴리오의 방어 기제를 작동시키는 ‘늦지 않는 경보 장치‘ 역할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661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INVESTMENT THEME: SEMICONDUCTOR AS A HUB OF MACRO CYCLES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경기·금리·투자가 교차하는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글로벌 거시 사이클의 결정체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WHY</a:t>
            </a: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SEMICONDUCTOR?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기술 그 이상의 지표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- 반도체는 단순한 기술 섹터가 아니라 글로벌 공급망과 강하게 연결된 경제 지표입니다.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복합 사이클의 반영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- 경기 상황, 금리 변동, 전 세계 산업 투자 사이클을 동시에 투영하는 특성을 가집니다.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명확한 주기성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- 역사적으로 뚜렷한 주기성을 보여왔으며, 이는 전략적 진입과 청산의 구조적 근거가 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647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MARKET STRUCTURAL SHIFT: FROM BETA TO THEME-DRIVEN ALPHA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수급 구조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변화에 따른 종목 중심 초과 성과 장세의 고착화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미국 주식시장 매수 주체의 변화 (2020~)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가계 및 ETF 중심의 시장 재편 </a:t>
            </a:r>
            <a:r>
              <a:rPr lang="en-US" sz="23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3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기관 중심에서 가계와 ETF로 매수 주력이 이동하며 수급의 성격이 변화</a:t>
            </a:r>
          </a:p>
          <a:p>
            <a:pPr algn="l">
              <a:lnSpc>
                <a:spcPts val="3220"/>
              </a:lnSpc>
            </a:pPr>
            <a:r>
              <a:rPr lang="en-US" sz="23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액티브 ETF 비중 확대 </a:t>
            </a:r>
            <a:r>
              <a:rPr lang="en-US" sz="23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특히 테마와 종목에 집중 투자하는 액티브 ETF가 수급 구조 변화를 가속화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                                                                            </a:t>
            </a: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                                                                            </a:t>
            </a:r>
            <a:r>
              <a:rPr lang="en-US"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미국 지수 차원에서 동아시아 대비 부진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                                                                            한국의 경우 삼성전자와 SK하이닉스가 상승이 코스피지수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                                                                            상승을 뒷받침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F3F3F"/>
                </a:solidFill>
                <a:latin typeface="Poppins"/>
                <a:ea typeface="Poppins"/>
                <a:cs typeface="Poppins"/>
                <a:sym typeface="Poppins"/>
              </a:rPr>
              <a:t>                                                                                                                                                  대만 시장도 TSMC가 사실상 지수를 견인하는 구조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6114720"/>
            <a:ext cx="9696259" cy="3902744"/>
          </a:xfrm>
          <a:custGeom>
            <a:avLst/>
            <a:gdLst/>
            <a:ahLst/>
            <a:cxnLst/>
            <a:rect r="r" b="b" t="t" l="l"/>
            <a:pathLst>
              <a:path h="3902744" w="9696259">
                <a:moveTo>
                  <a:pt x="0" y="0"/>
                </a:moveTo>
                <a:lnTo>
                  <a:pt x="9696259" y="0"/>
                </a:lnTo>
                <a:lnTo>
                  <a:pt x="9696259" y="3902744"/>
                </a:lnTo>
                <a:lnTo>
                  <a:pt x="0" y="39027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829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INVESTMENT THEME: SEMICONDUCTOR AS A HUB OF MACRO CYCLES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경기·금리·투자가 교차하는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글로벌 거시 사이클의 결정체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구리(COPPER)와 금(GOLD)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반도체 섹터의 방향성을 읽기 위해 고전적인 거시 자산의 상대 가격에 주목했습니다.</a:t>
            </a: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구리 (COPPER):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실물 경제의 활동성과 성장 기대를 상징.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금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(GOLD):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시장의 불확실성과 안전 자산 선호를 상징.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중장기 산업 사이클의 방향성을 명확히 설명하며, 실제 분석 결과 미국 및 한국 반도체 지수와 유의미한 시차 상관관계를 보였습니다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4566280" y="2886697"/>
            <a:ext cx="9155440" cy="6134145"/>
          </a:xfrm>
          <a:custGeom>
            <a:avLst/>
            <a:gdLst/>
            <a:ahLst/>
            <a:cxnLst/>
            <a:rect r="r" b="b" t="t" l="l"/>
            <a:pathLst>
              <a:path h="6134145" w="9155440">
                <a:moveTo>
                  <a:pt x="0" y="0"/>
                </a:moveTo>
                <a:lnTo>
                  <a:pt x="9155440" y="0"/>
                </a:lnTo>
                <a:lnTo>
                  <a:pt x="9155440" y="6134145"/>
                </a:lnTo>
                <a:lnTo>
                  <a:pt x="0" y="6134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23198" y="2886697"/>
            <a:ext cx="9641605" cy="6869643"/>
          </a:xfrm>
          <a:custGeom>
            <a:avLst/>
            <a:gdLst/>
            <a:ahLst/>
            <a:cxnLst/>
            <a:rect r="r" b="b" t="t" l="l"/>
            <a:pathLst>
              <a:path h="6869643" w="9641605">
                <a:moveTo>
                  <a:pt x="0" y="0"/>
                </a:moveTo>
                <a:lnTo>
                  <a:pt x="9641604" y="0"/>
                </a:lnTo>
                <a:lnTo>
                  <a:pt x="9641604" y="6869644"/>
                </a:lnTo>
                <a:lnTo>
                  <a:pt x="0" y="68696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663438" y="4141415"/>
            <a:ext cx="14961123" cy="3852489"/>
          </a:xfrm>
          <a:custGeom>
            <a:avLst/>
            <a:gdLst/>
            <a:ahLst/>
            <a:cxnLst/>
            <a:rect r="r" b="b" t="t" l="l"/>
            <a:pathLst>
              <a:path h="3852489" w="14961123">
                <a:moveTo>
                  <a:pt x="0" y="0"/>
                </a:moveTo>
                <a:lnTo>
                  <a:pt x="14961124" y="0"/>
                </a:lnTo>
                <a:lnTo>
                  <a:pt x="14961124" y="3852489"/>
                </a:lnTo>
                <a:lnTo>
                  <a:pt x="0" y="38524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775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LOGIC: DUAL-TRACK INVESTMENT PRINCIPLES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수익 추구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국면과 리스크 방어 국면의 명확한 분리 운용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국면별 전략의 차별화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단일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알고리즘이 아닌, 시장의 국면에 최적화된 하이브리드 로직을 채택했습니다. 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공격 국면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(OFFENSIVE PHASE)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시장의 에너지가 확인된 상승장에서는 잘 나가는 자산에 집중하는 '모멘텀(MOMENTUM)' 전략을 통해 수익을 극대화합니다. 베타 투자 보다는 알파 투자.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중립·방어 국면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(NEUTRAL/DEFENSIVE PHASE)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시장이 불투명하거나 하락하는 장에서는 개별 자산의 변동성을 고르게 배분하는 '리스크 패리티(RISK PARITY)' 전략을 통해 생존과 자산 보호에 주력합니다.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MOMENTUM SCORE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모멘텀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지수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가중 평균 모</a:t>
            </a: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멘텀 (WEIGHTED AVERAGE MOMENTUM)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특정 자산의 과거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수익률을 기간별로 측정하되, 현재와 가까운 단기 수익률에 더 높은 가중치를 부여하여 산출합니다.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단순히 오르는 자산이 아니라, '지금 가장 탄력적으로 오르는' 주도 섹터와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종목을 선별하기 위함입니다.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777703" y="6939432"/>
            <a:ext cx="10732594" cy="1630268"/>
          </a:xfrm>
          <a:custGeom>
            <a:avLst/>
            <a:gdLst/>
            <a:ahLst/>
            <a:cxnLst/>
            <a:rect r="r" b="b" t="t" l="l"/>
            <a:pathLst>
              <a:path h="1630268" w="10732594">
                <a:moveTo>
                  <a:pt x="0" y="0"/>
                </a:moveTo>
                <a:lnTo>
                  <a:pt x="10732594" y="0"/>
                </a:lnTo>
                <a:lnTo>
                  <a:pt x="10732594" y="1630268"/>
                </a:lnTo>
                <a:lnTo>
                  <a:pt x="0" y="16302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792309" y="6989389"/>
            <a:ext cx="10808300" cy="2466212"/>
          </a:xfrm>
          <a:custGeom>
            <a:avLst/>
            <a:gdLst/>
            <a:ahLst/>
            <a:cxnLst/>
            <a:rect r="r" b="b" t="t" l="l"/>
            <a:pathLst>
              <a:path h="2466212" w="10808300">
                <a:moveTo>
                  <a:pt x="0" y="0"/>
                </a:moveTo>
                <a:lnTo>
                  <a:pt x="10808300" y="0"/>
                </a:lnTo>
                <a:lnTo>
                  <a:pt x="10808300" y="2466213"/>
                </a:lnTo>
                <a:lnTo>
                  <a:pt x="0" y="2466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093665"/>
            <a:ext cx="16146821" cy="3895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PARITY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리스크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패리티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역변동성 가중 방식</a:t>
            </a: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(INVERSE VOLATILITY WEIGHTING)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각 자산의 변동성(표준편차)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에 반비례하도록 투자 비중을 결정합니다.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변동성이 큰 자산은 적게, 변동성이 작은 자산은 많이 보유함으로써 포트폴리오 전체의 위험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기여도를 균등하게 맞추는 것입니다.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700" y="3093665"/>
            <a:ext cx="16146821" cy="9083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STRATEGY GOAL: STABILITY-BASED CAPITAL ACCELERATION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검증된 안정성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위에서 실현하는 30대 맞춤형 자본 성장 가속화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반도체 섹터 집중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DAA의 안전한 운용 프레임워크를 유지하면서,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공격 구간에서는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거시 경제의 집약체인 반도체 섹터에 집중하여 초과 수익(ALPHA)을 확보합니다.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레버리지 활용 전략 (LEVERAGE STRATEGY)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선 안정성 검증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무작정 레버리지를 사용하는 것이 아니라, SHARPE RATIO와 MDD가 통제된 안정적인 운용 구조를 먼저 확보합니다.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후 자본 가속화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검증된 구조 위에 공격 유니버스에 한해 레버리지 상품으로 치환함으로써, 감내 가능한 리스크 범위 내에서 최종 자본 성장을 가속합니다.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640"/>
              </a:lnSpc>
            </a:pPr>
            <a:r>
              <a:rPr lang="en-US" sz="26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변동성은 감내할 수 있으나 자산 소멸은 감당할 수 없는 30대의 특성을 고려하여, 생존을 전제로 한 성장을 추구합니다.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1292537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CORE STRA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TEGY &amp; METHODOLOGY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운용 전략 및 방법론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62251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93665"/>
            <a:ext cx="16146821" cy="1036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MACRO PENALTY SYSTEM: ADVANCED MACRO SAFETY MECHANISM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구리/금 사이클을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활용한 선제적 자산 노출도 조절 로직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한 단계 더 깊은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안전장치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반도체는 전형적인 사이클 산업이기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에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거시 경제의 스트레스를 완전히 무시할 수 없습니다. 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카나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리아 자산(VWO/BND)이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보내는 1차 신호에 더해, 구리/금 사이클이라는 2차 검증 장치를 가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동합니다. 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시장 예측이 아닌 '속도 조절'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신호의 해석: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구리/금 가격 비율이 위험 신호를 보낼 경우, 카나리아가 '공격' 국면을 가리키더라도 이를 무효화하지 않습니다. 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페널티 부여: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대신 실제 투입되는 자산의 비중(WEIGHT)을 페널티 점수에 따라 일정 부분 강제로 축소합니다. 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시스템의 독립성 및 효율성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선별적 개입: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이 장치는 오직 '공격' 국면에서만 선별적으로 작동하여 수익 구간의 노이즈를 제거합니다. </a:t>
            </a:r>
          </a:p>
          <a:p>
            <a:pPr algn="l" marL="539756" indent="-269878" lvl="1">
              <a:lnSpc>
                <a:spcPts val="3500"/>
              </a:lnSpc>
              <a:buFont typeface="Arial"/>
              <a:buChar char="•"/>
            </a:pPr>
            <a:r>
              <a:rPr lang="en-US" b="true" sz="25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일관성 유지: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중립 및 방어 국면에는 개입하지 않는데, 이는 이미 리스크 패리티(RISK PARITY) 모델이 충분한 완충 역할을 수행하고 있기 때문입니다.</a:t>
            </a:r>
          </a:p>
          <a:p>
            <a:pPr algn="l">
              <a:lnSpc>
                <a:spcPts val="364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916661" y="2493590"/>
            <a:ext cx="8454677" cy="7249886"/>
          </a:xfrm>
          <a:custGeom>
            <a:avLst/>
            <a:gdLst/>
            <a:ahLst/>
            <a:cxnLst/>
            <a:rect r="r" b="b" t="t" l="l"/>
            <a:pathLst>
              <a:path h="7249886" w="8454677">
                <a:moveTo>
                  <a:pt x="0" y="0"/>
                </a:moveTo>
                <a:lnTo>
                  <a:pt x="8454678" y="0"/>
                </a:lnTo>
                <a:lnTo>
                  <a:pt x="8454678" y="7249885"/>
                </a:lnTo>
                <a:lnTo>
                  <a:pt x="0" y="72498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62251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4044701"/>
            <a:ext cx="8906173" cy="5933738"/>
          </a:xfrm>
          <a:custGeom>
            <a:avLst/>
            <a:gdLst/>
            <a:ahLst/>
            <a:cxnLst/>
            <a:rect r="r" b="b" t="t" l="l"/>
            <a:pathLst>
              <a:path h="5933738" w="8906173">
                <a:moveTo>
                  <a:pt x="0" y="0"/>
                </a:moveTo>
                <a:lnTo>
                  <a:pt x="8906173" y="0"/>
                </a:lnTo>
                <a:lnTo>
                  <a:pt x="8906173" y="5933738"/>
                </a:lnTo>
                <a:lnTo>
                  <a:pt x="0" y="59337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28700" y="3093665"/>
            <a:ext cx="16146821" cy="6496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MACRO PENALTY SYSTEM: ADVANCED MACRO SAFETY MECHANISM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구리/금 사이클을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활용한 선제적 자산 노출도 조절 로직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계산 프로세스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STEP 1. 로그 변환: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구리/금 가격 비율에 로그를 취해 변동 폭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을 정규화합니다. 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STEP 2. 장기 추세 산출: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255거래일(약 1년) 지수이동평균을 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통해 거시 경제의 평균적 성장 경로를 구합니다.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STEP 3. 변동성 기반 거리 계산: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현재 값이 장기 평균에서 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얼마나 이탈했는지 측정합니다. 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STEP 4. 위험 회피 지표 판정: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이탈도가 1.5시그마를 넘어서는</a:t>
            </a:r>
          </a:p>
          <a:p>
            <a:pPr algn="l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순간을 통계적 위기 국면으로 판정합니다.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3198440"/>
            <a:ext cx="16230600" cy="5315521"/>
          </a:xfrm>
          <a:custGeom>
            <a:avLst/>
            <a:gdLst/>
            <a:ahLst/>
            <a:cxnLst/>
            <a:rect r="r" b="b" t="t" l="l"/>
            <a:pathLst>
              <a:path h="5315521" w="16230600">
                <a:moveTo>
                  <a:pt x="0" y="0"/>
                </a:moveTo>
                <a:lnTo>
                  <a:pt x="16230600" y="0"/>
                </a:lnTo>
                <a:lnTo>
                  <a:pt x="16230600" y="5315521"/>
                </a:lnTo>
                <a:lnTo>
                  <a:pt x="0" y="53155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05171" y="2812615"/>
            <a:ext cx="15754129" cy="6498578"/>
          </a:xfrm>
          <a:custGeom>
            <a:avLst/>
            <a:gdLst/>
            <a:ahLst/>
            <a:cxnLst/>
            <a:rect r="r" b="b" t="t" l="l"/>
            <a:pathLst>
              <a:path h="6498578" w="15754129">
                <a:moveTo>
                  <a:pt x="0" y="0"/>
                </a:moveTo>
                <a:lnTo>
                  <a:pt x="15754129" y="0"/>
                </a:lnTo>
                <a:lnTo>
                  <a:pt x="15754129" y="6498579"/>
                </a:lnTo>
                <a:lnTo>
                  <a:pt x="0" y="649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583723" y="3820779"/>
            <a:ext cx="4949662" cy="4949662"/>
          </a:xfrm>
          <a:custGeom>
            <a:avLst/>
            <a:gdLst/>
            <a:ahLst/>
            <a:cxnLst/>
            <a:rect r="r" b="b" t="t" l="l"/>
            <a:pathLst>
              <a:path h="4949662" w="4949662">
                <a:moveTo>
                  <a:pt x="0" y="0"/>
                </a:moveTo>
                <a:lnTo>
                  <a:pt x="4949662" y="0"/>
                </a:lnTo>
                <a:lnTo>
                  <a:pt x="4949662" y="4949662"/>
                </a:lnTo>
                <a:lnTo>
                  <a:pt x="0" y="49496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62251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8657991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RISK MANAGE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리스크 관리 체계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093665"/>
            <a:ext cx="16146821" cy="702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OPTIMIZED DEFENSE STRATEGY: THE LAST LINE OF DEFENSE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실험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적 검증을 통한 수비 유니버스의 정예화 및 방어 효율 극대화</a:t>
            </a:r>
          </a:p>
          <a:p>
            <a:pPr algn="l">
              <a:lnSpc>
                <a:spcPts val="126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수비 유니버스의 구성</a:t>
            </a:r>
          </a:p>
          <a:p>
            <a:pPr algn="l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실험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결과, 방어 자산을 무분별하게 늘리는 것은 오히려 포트폴리오의 효율을 저해하는 요소가 되었습니다. 본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펀드는 노이즈를 제거하고 방어력이 가장 명확한 3대 자산으로 수비진을 구축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합니다.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채권 (BOND)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주식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시장 급락 시 가격 상승을 통한 직접적인 헤지.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달러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(USD)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</a:t>
            </a: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글로벌 경제 위기 및 유동성 경색 시 자산 가치 보존.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금 (GOLD) 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- 인플레이션 및 화폐 가치 하락에 대비한 실물 안전 자산.</a:t>
            </a:r>
          </a:p>
          <a:p>
            <a:pPr algn="l">
              <a:lnSpc>
                <a:spcPts val="3500"/>
              </a:lnSpc>
            </a:pPr>
          </a:p>
          <a:p>
            <a:pPr algn="l">
              <a:lnSpc>
                <a:spcPts val="4900"/>
              </a:lnSpc>
            </a:pPr>
            <a:r>
              <a:rPr lang="en-US" sz="3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단순화의 미학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최적화 결과: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다양한 자산군을 테스트했으나, 단순하지만 명확한 구조를 가질 때 가장 뛰어난 안정성을 보였습니다.</a:t>
            </a:r>
          </a:p>
          <a:p>
            <a:pPr algn="l">
              <a:lnSpc>
                <a:spcPts val="3500"/>
              </a:lnSpc>
            </a:pPr>
            <a:r>
              <a:rPr lang="en-US" sz="2500" b="true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효율성 제고:</a:t>
            </a: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불필요한 자산 배분에서 발생하는 운용 비용과 신호의 간섭을 최소화하여 위기 상황에서 즉각적이고 투명하게 작동합니다.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6613625"/>
            <a:ext cx="16457969" cy="3147587"/>
          </a:xfrm>
          <a:custGeom>
            <a:avLst/>
            <a:gdLst/>
            <a:ahLst/>
            <a:cxnLst/>
            <a:rect r="r" b="b" t="t" l="l"/>
            <a:pathLst>
              <a:path h="3147587" w="16457969">
                <a:moveTo>
                  <a:pt x="0" y="0"/>
                </a:moveTo>
                <a:lnTo>
                  <a:pt x="16457969" y="0"/>
                </a:lnTo>
                <a:lnTo>
                  <a:pt x="16457969" y="3147586"/>
                </a:lnTo>
                <a:lnTo>
                  <a:pt x="0" y="3147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2704857"/>
            <a:ext cx="16457969" cy="3908768"/>
          </a:xfrm>
          <a:custGeom>
            <a:avLst/>
            <a:gdLst/>
            <a:ahLst/>
            <a:cxnLst/>
            <a:rect r="r" b="b" t="t" l="l"/>
            <a:pathLst>
              <a:path h="3908768" w="16457969">
                <a:moveTo>
                  <a:pt x="0" y="0"/>
                </a:moveTo>
                <a:lnTo>
                  <a:pt x="16457969" y="0"/>
                </a:lnTo>
                <a:lnTo>
                  <a:pt x="16457969" y="3908768"/>
                </a:lnTo>
                <a:lnTo>
                  <a:pt x="0" y="390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9547715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MANCE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성과 분석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806038" y="2356164"/>
            <a:ext cx="8633953" cy="7651841"/>
          </a:xfrm>
          <a:custGeom>
            <a:avLst/>
            <a:gdLst/>
            <a:ahLst/>
            <a:cxnLst/>
            <a:rect r="r" b="b" t="t" l="l"/>
            <a:pathLst>
              <a:path h="7651841" w="8633953">
                <a:moveTo>
                  <a:pt x="0" y="0"/>
                </a:moveTo>
                <a:lnTo>
                  <a:pt x="8633952" y="0"/>
                </a:lnTo>
                <a:lnTo>
                  <a:pt x="8633952" y="7651841"/>
                </a:lnTo>
                <a:lnTo>
                  <a:pt x="0" y="7651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457952" y="3485125"/>
            <a:ext cx="4801348" cy="5393920"/>
          </a:xfrm>
          <a:custGeom>
            <a:avLst/>
            <a:gdLst/>
            <a:ahLst/>
            <a:cxnLst/>
            <a:rect r="r" b="b" t="t" l="l"/>
            <a:pathLst>
              <a:path h="5393920" w="4801348">
                <a:moveTo>
                  <a:pt x="0" y="0"/>
                </a:moveTo>
                <a:lnTo>
                  <a:pt x="4801348" y="0"/>
                </a:lnTo>
                <a:lnTo>
                  <a:pt x="4801348" y="5393920"/>
                </a:lnTo>
                <a:lnTo>
                  <a:pt x="0" y="5393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9547715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MANCE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성과 분석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35837" y="6743124"/>
            <a:ext cx="17016326" cy="3254372"/>
          </a:xfrm>
          <a:custGeom>
            <a:avLst/>
            <a:gdLst/>
            <a:ahLst/>
            <a:cxnLst/>
            <a:rect r="r" b="b" t="t" l="l"/>
            <a:pathLst>
              <a:path h="3254372" w="17016326">
                <a:moveTo>
                  <a:pt x="0" y="0"/>
                </a:moveTo>
                <a:lnTo>
                  <a:pt x="17016326" y="0"/>
                </a:lnTo>
                <a:lnTo>
                  <a:pt x="17016326" y="3254372"/>
                </a:lnTo>
                <a:lnTo>
                  <a:pt x="0" y="325437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837" y="2701746"/>
            <a:ext cx="17016326" cy="4041377"/>
          </a:xfrm>
          <a:custGeom>
            <a:avLst/>
            <a:gdLst/>
            <a:ahLst/>
            <a:cxnLst/>
            <a:rect r="r" b="b" t="t" l="l"/>
            <a:pathLst>
              <a:path h="4041377" w="17016326">
                <a:moveTo>
                  <a:pt x="0" y="0"/>
                </a:moveTo>
                <a:lnTo>
                  <a:pt x="17016326" y="0"/>
                </a:lnTo>
                <a:lnTo>
                  <a:pt x="17016326" y="4041378"/>
                </a:lnTo>
                <a:lnTo>
                  <a:pt x="0" y="4041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9547715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MANCE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성과 분석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87862" y="2569790"/>
            <a:ext cx="15112277" cy="3589166"/>
          </a:xfrm>
          <a:custGeom>
            <a:avLst/>
            <a:gdLst/>
            <a:ahLst/>
            <a:cxnLst/>
            <a:rect r="r" b="b" t="t" l="l"/>
            <a:pathLst>
              <a:path h="3589166" w="15112277">
                <a:moveTo>
                  <a:pt x="0" y="0"/>
                </a:moveTo>
                <a:lnTo>
                  <a:pt x="15112276" y="0"/>
                </a:lnTo>
                <a:lnTo>
                  <a:pt x="15112276" y="3589165"/>
                </a:lnTo>
                <a:lnTo>
                  <a:pt x="0" y="358916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87862" y="6158955"/>
            <a:ext cx="15112277" cy="3589166"/>
          </a:xfrm>
          <a:custGeom>
            <a:avLst/>
            <a:gdLst/>
            <a:ahLst/>
            <a:cxnLst/>
            <a:rect r="r" b="b" t="t" l="l"/>
            <a:pathLst>
              <a:path h="3589166" w="15112277">
                <a:moveTo>
                  <a:pt x="0" y="0"/>
                </a:moveTo>
                <a:lnTo>
                  <a:pt x="15112276" y="0"/>
                </a:lnTo>
                <a:lnTo>
                  <a:pt x="15112276" y="3589166"/>
                </a:lnTo>
                <a:lnTo>
                  <a:pt x="0" y="35891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9547715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MANCE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성과 분석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949029" y="3103190"/>
            <a:ext cx="12389941" cy="5861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b="true" sz="3499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핵심 성과 지표 (KEY METRICS)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안정성을 먼저 확보한 후 공격 유니버스를 레버리지 상품으로 치환하여 도출한 최종 결과입니다</a:t>
            </a:r>
            <a:r>
              <a:rPr lang="en-US" sz="25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연평균 성장률 (CAGR):</a:t>
            </a: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 15.66%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위험</a:t>
            </a: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 대비 수익 효율 (SHARPE RATIO): 0.87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최대 낙폭 (MDD): -39.40%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벤치마크 대비 우위성 (COMPARATIVE ADVANTAGE)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단순 보유(1/N BUY &amp; HOLD) 대비 모든 지표에서 유의미한 개선을 확인했습니다.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효율성 개선 -</a:t>
            </a:r>
            <a:r>
              <a:rPr lang="en-US" sz="30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변동성 대비 수익 효율 대폭 개선 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5F5F5F"/>
                </a:solidFill>
                <a:latin typeface="Poppins Bold"/>
                <a:ea typeface="Poppins Bold"/>
                <a:cs typeface="Poppins Bold"/>
                <a:sym typeface="Poppins Bold"/>
              </a:rPr>
              <a:t>리스크 통제</a:t>
            </a:r>
            <a:r>
              <a:rPr lang="en-US" sz="30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 - 시스템적 방어 로직을 통한 MDD 통제 및 SHARPE RATIO 개선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6121" y="1356244"/>
            <a:ext cx="9547715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PERFOR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MANCE ANALYSIS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성과 분석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486121" y="1356244"/>
            <a:ext cx="5082618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CO</a:t>
            </a:r>
            <a:r>
              <a:rPr lang="en-US" b="true" sz="5937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투자 결론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5660" y="2818737"/>
            <a:ext cx="16296680" cy="646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</a:pPr>
            <a:r>
              <a:rPr lang="en-US" sz="3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3499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30대 자산 형성의 새로운 패러다임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30대 투자자에게 가장 필요한 것은 단순한 수익률이 아니라, ‘생존이 담보된 성장 속도’입니다. </a:t>
            </a:r>
          </a:p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본 펀드는 다음 세 가지 원칙을 통해 30대 맞춤형 자산 증식 솔루션을 제공합니다.</a:t>
            </a:r>
          </a:p>
          <a:p>
            <a:pPr algn="ctr">
              <a:lnSpc>
                <a:spcPts val="4200"/>
              </a:lnSpc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철저</a:t>
            </a: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한 생존 중심 설계 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언제 공격하느냐보다 '언제 덜 공격해야 하는가'를 데이터로 결정하여 자산 소멸 리스크를 원천 차단합니다.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구조적 알파(ALPHA) 포착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미국 지수 대비 압도적 성과를 보이는 동아시아 반도체 밸류체인에 집중하여, 정체된 시장 환경에서도 초과 수익을 창출합니다.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</a:p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3F3F3F"/>
                </a:solidFill>
                <a:latin typeface="Poppins Bold"/>
                <a:ea typeface="Poppins Bold"/>
                <a:cs typeface="Poppins Bold"/>
                <a:sym typeface="Poppins Bold"/>
              </a:rPr>
              <a:t>검증된 안정성 위의 레버리지</a:t>
            </a:r>
          </a:p>
          <a:p>
            <a:pPr algn="ctr">
              <a:lnSpc>
                <a:spcPts val="3500"/>
              </a:lnSpc>
              <a:spcBef>
                <a:spcPct val="0"/>
              </a:spcBef>
            </a:pPr>
            <a:r>
              <a:rPr lang="en-US" sz="2500">
                <a:solidFill>
                  <a:srgbClr val="5F5F5F"/>
                </a:solidFill>
                <a:latin typeface="Poppins"/>
                <a:ea typeface="Poppins"/>
                <a:cs typeface="Poppins"/>
                <a:sym typeface="Poppins"/>
              </a:rPr>
              <a:t>전통 DAA의 안전 구조를 기반으로, 리스크가 통제된 구간에서만 레버리지를 활용하여 자본 가속화를 실현합니다.</a:t>
            </a:r>
          </a:p>
          <a:p>
            <a:pPr algn="ctr">
              <a:lnSpc>
                <a:spcPts val="420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984663" y="2595226"/>
            <a:ext cx="6974390" cy="5938891"/>
          </a:xfrm>
          <a:custGeom>
            <a:avLst/>
            <a:gdLst/>
            <a:ahLst/>
            <a:cxnLst/>
            <a:rect r="r" b="b" t="t" l="l"/>
            <a:pathLst>
              <a:path h="5938891" w="6974390">
                <a:moveTo>
                  <a:pt x="0" y="0"/>
                </a:moveTo>
                <a:lnTo>
                  <a:pt x="6974390" y="0"/>
                </a:lnTo>
                <a:lnTo>
                  <a:pt x="6974390" y="5938891"/>
                </a:lnTo>
                <a:lnTo>
                  <a:pt x="0" y="593889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240617" y="2602164"/>
            <a:ext cx="6270460" cy="7409702"/>
          </a:xfrm>
          <a:custGeom>
            <a:avLst/>
            <a:gdLst/>
            <a:ahLst/>
            <a:cxnLst/>
            <a:rect r="r" b="b" t="t" l="l"/>
            <a:pathLst>
              <a:path h="7409702" w="6270460">
                <a:moveTo>
                  <a:pt x="0" y="0"/>
                </a:moveTo>
                <a:lnTo>
                  <a:pt x="6270460" y="0"/>
                </a:lnTo>
                <a:lnTo>
                  <a:pt x="6270460" y="7409701"/>
                </a:lnTo>
                <a:lnTo>
                  <a:pt x="0" y="7409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86121" y="1356244"/>
            <a:ext cx="8979479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HOME TRADING SYSTEM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HTS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86121" y="2595226"/>
            <a:ext cx="2216977" cy="2976384"/>
          </a:xfrm>
          <a:custGeom>
            <a:avLst/>
            <a:gdLst/>
            <a:ahLst/>
            <a:cxnLst/>
            <a:rect r="r" b="b" t="t" l="l"/>
            <a:pathLst>
              <a:path h="2976384" w="2216977">
                <a:moveTo>
                  <a:pt x="0" y="0"/>
                </a:moveTo>
                <a:lnTo>
                  <a:pt x="2216977" y="0"/>
                </a:lnTo>
                <a:lnTo>
                  <a:pt x="2216977" y="2976383"/>
                </a:lnTo>
                <a:lnTo>
                  <a:pt x="0" y="29763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570186"/>
            <a:ext cx="18744350" cy="0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70186" y="-795708"/>
            <a:ext cx="0" cy="11811502"/>
          </a:xfrm>
          <a:prstGeom prst="line">
            <a:avLst/>
          </a:prstGeom>
          <a:ln cap="flat" w="9525">
            <a:solidFill>
              <a:srgbClr val="5578E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245616" y="2218739"/>
            <a:ext cx="4456665" cy="7784567"/>
          </a:xfrm>
          <a:custGeom>
            <a:avLst/>
            <a:gdLst/>
            <a:ahLst/>
            <a:cxnLst/>
            <a:rect r="r" b="b" t="t" l="l"/>
            <a:pathLst>
              <a:path h="7784567" w="4456665">
                <a:moveTo>
                  <a:pt x="0" y="0"/>
                </a:moveTo>
                <a:lnTo>
                  <a:pt x="4456665" y="0"/>
                </a:lnTo>
                <a:lnTo>
                  <a:pt x="4456665" y="7784567"/>
                </a:lnTo>
                <a:lnTo>
                  <a:pt x="0" y="778456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702281" y="2218739"/>
            <a:ext cx="10870324" cy="3068236"/>
          </a:xfrm>
          <a:custGeom>
            <a:avLst/>
            <a:gdLst/>
            <a:ahLst/>
            <a:cxnLst/>
            <a:rect r="r" b="b" t="t" l="l"/>
            <a:pathLst>
              <a:path h="3068236" w="10870324">
                <a:moveTo>
                  <a:pt x="0" y="0"/>
                </a:moveTo>
                <a:lnTo>
                  <a:pt x="10870324" y="0"/>
                </a:lnTo>
                <a:lnTo>
                  <a:pt x="10870324" y="3068236"/>
                </a:lnTo>
                <a:lnTo>
                  <a:pt x="0" y="306823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02281" y="5286975"/>
            <a:ext cx="10870324" cy="4446231"/>
          </a:xfrm>
          <a:custGeom>
            <a:avLst/>
            <a:gdLst/>
            <a:ahLst/>
            <a:cxnLst/>
            <a:rect r="r" b="b" t="t" l="l"/>
            <a:pathLst>
              <a:path h="4446231" w="10870324">
                <a:moveTo>
                  <a:pt x="0" y="0"/>
                </a:moveTo>
                <a:lnTo>
                  <a:pt x="10870324" y="0"/>
                </a:lnTo>
                <a:lnTo>
                  <a:pt x="10870324" y="4446232"/>
                </a:lnTo>
                <a:lnTo>
                  <a:pt x="0" y="44462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486121" y="1356244"/>
            <a:ext cx="8979479" cy="825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8"/>
              </a:lnSpc>
            </a:pPr>
            <a:r>
              <a:rPr lang="en-US" sz="5937" b="true">
                <a:solidFill>
                  <a:srgbClr val="5578E1"/>
                </a:solidFill>
                <a:latin typeface="Poppins Bold"/>
                <a:ea typeface="Poppins Bold"/>
                <a:cs typeface="Poppins Bold"/>
                <a:sym typeface="Poppins Bold"/>
              </a:rPr>
              <a:t>HOME TRADING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5171" y="2161589"/>
            <a:ext cx="2287138" cy="332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3"/>
              </a:lnSpc>
            </a:pPr>
            <a:r>
              <a:rPr lang="en-US" sz="1862" spc="-27">
                <a:solidFill>
                  <a:srgbClr val="3F3F3F"/>
                </a:solidFill>
                <a:latin typeface="JASO Sans"/>
                <a:ea typeface="JASO Sans"/>
                <a:cs typeface="JASO Sans"/>
                <a:sym typeface="JASO Sans"/>
              </a:rPr>
              <a:t>HTS</a:t>
            </a: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5578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7717814" y="-109963"/>
            <a:ext cx="0" cy="11202196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0" y="9726339"/>
            <a:ext cx="18744350" cy="0"/>
          </a:xfrm>
          <a:prstGeom prst="line">
            <a:avLst/>
          </a:prstGeom>
          <a:ln cap="flat" w="9525">
            <a:solidFill>
              <a:srgbClr val="F5F5F3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856890" y="1721712"/>
            <a:ext cx="10874368" cy="4663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11"/>
              </a:lnSpc>
            </a:pPr>
            <a:r>
              <a:rPr lang="en-US" sz="19548" b="true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THAN</a:t>
            </a:r>
            <a:r>
              <a:rPr lang="en-US" b="true" sz="19548">
                <a:solidFill>
                  <a:srgbClr val="F5F5F3"/>
                </a:solidFill>
                <a:latin typeface="Poppins Bold"/>
                <a:ea typeface="Poppins Bold"/>
                <a:cs typeface="Poppins Bold"/>
                <a:sym typeface="Poppins Bold"/>
              </a:rPr>
              <a:t>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95370" y="6202608"/>
            <a:ext cx="2335633" cy="3084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86"/>
              </a:lnSpc>
            </a:pPr>
            <a:r>
              <a:rPr lang="en-US" sz="1700" spc="-25">
                <a:solidFill>
                  <a:srgbClr val="F5F5F3">
                    <a:alpha val="55686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경청</a:t>
            </a:r>
            <a:r>
              <a:rPr lang="en-US" sz="1700" spc="-25">
                <a:solidFill>
                  <a:srgbClr val="F5F5F3">
                    <a:alpha val="55686"/>
                  </a:srgbClr>
                </a:solidFill>
                <a:latin typeface="JASO Sans"/>
                <a:ea typeface="JASO Sans"/>
                <a:cs typeface="JASO Sans"/>
                <a:sym typeface="JASO Sans"/>
              </a:rPr>
              <a:t>해 주셔서 감사합니다.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342192" y="8907519"/>
            <a:ext cx="3917108" cy="3507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163" spc="-43">
                <a:solidFill>
                  <a:srgbClr val="F5F5F3"/>
                </a:solidFill>
                <a:latin typeface="JASO Sans"/>
                <a:ea typeface="JASO Sans"/>
                <a:cs typeface="JASO Sans"/>
                <a:sym typeface="JASO Sans"/>
              </a:rPr>
              <a:t>1조  오은원,  고현주, 홍지훈, 김재무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DAG_AhS-fJA</dc:identifier>
  <dcterms:modified xsi:type="dcterms:W3CDTF">2011-08-01T06:04:30Z</dcterms:modified>
  <cp:revision>1</cp:revision>
  <dc:title>금구리당</dc:title>
</cp:coreProperties>
</file>